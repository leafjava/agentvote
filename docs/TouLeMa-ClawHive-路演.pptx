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4c487199b140b3" /><Relationship Type="http://schemas.openxmlformats.org/officeDocument/2006/relationships/extended-properties" Target="/docProps/app.xml" Id="Rc8637ce6fcd64591" /><Relationship Type="http://schemas.openxmlformats.org/officeDocument/2006/relationships/officeDocument" Target="/ppt/presentation.xml" Id="R1ef695f010f046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eeb3681ab54406"/>
  </p:sldMasterIdLst>
  <p:notesMasterIdLst>
    <p:notesMasterId xmlns:r="http://schemas.openxmlformats.org/officeDocument/2006/relationships" r:id="Rc1f1a9f045c74ffb"/>
  </p:notesMasterIdLst>
  <p:sldIdLst>
    <p:sldId xmlns:r="http://schemas.openxmlformats.org/officeDocument/2006/relationships" id="256" r:id="R1452b38244b14579"/>
    <p:sldId xmlns:r="http://schemas.openxmlformats.org/officeDocument/2006/relationships" id="257" r:id="R4b8ec5650e7947f5"/>
    <p:sldId xmlns:r="http://schemas.openxmlformats.org/officeDocument/2006/relationships" id="258" r:id="R7c267be169874cf1"/>
    <p:sldId xmlns:r="http://schemas.openxmlformats.org/officeDocument/2006/relationships" id="259" r:id="Rc2ddf2e44afd4a6e"/>
    <p:sldId xmlns:r="http://schemas.openxmlformats.org/officeDocument/2006/relationships" id="260" r:id="Rd407963e119d4f45"/>
    <p:sldId xmlns:r="http://schemas.openxmlformats.org/officeDocument/2006/relationships" id="261" r:id="Rf3b3b1a7233446bb"/>
    <p:sldId xmlns:r="http://schemas.openxmlformats.org/officeDocument/2006/relationships" id="262" r:id="R7a6c8a2f1f3247be"/>
    <p:sldId xmlns:r="http://schemas.openxmlformats.org/officeDocument/2006/relationships" id="263" r:id="Rfb285834f5d14311"/>
    <p:sldId xmlns:r="http://schemas.openxmlformats.org/officeDocument/2006/relationships" id="264" r:id="Rc882ac98f7a840bf"/>
    <p:sldId xmlns:r="http://schemas.openxmlformats.org/officeDocument/2006/relationships" id="265" r:id="R4265faeb9c504e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99d599c4ab4436" /><Relationship Type="http://schemas.openxmlformats.org/officeDocument/2006/relationships/slideMaster" Target="/ppt/slideMasters/slideMaster1.xml" Id="Ra1eeb3681ab54406" /><Relationship Type="http://schemas.openxmlformats.org/officeDocument/2006/relationships/notesMaster" Target="/ppt/notesMasters/notesMaster1.xml" Id="Rc1f1a9f045c74ffb" /><Relationship Type="http://schemas.openxmlformats.org/officeDocument/2006/relationships/presProps" Target="/ppt/presProps.xml" Id="R6cf09b156cc54940" /><Relationship Type="http://schemas.openxmlformats.org/officeDocument/2006/relationships/tableStyles" Target="/ppt/tableStyles.xml" Id="Rd7e78502f4e94c83" /><Relationship Type="http://schemas.openxmlformats.org/officeDocument/2006/relationships/slide" Target="/ppt/slides/slide1.xml" Id="R1452b38244b14579" /><Relationship Type="http://schemas.openxmlformats.org/officeDocument/2006/relationships/slide" Target="/ppt/slides/slide2.xml" Id="R4b8ec5650e7947f5" /><Relationship Type="http://schemas.openxmlformats.org/officeDocument/2006/relationships/slide" Target="/ppt/slides/slide3.xml" Id="R7c267be169874cf1" /><Relationship Type="http://schemas.openxmlformats.org/officeDocument/2006/relationships/slide" Target="/ppt/slides/slide4.xml" Id="Rc2ddf2e44afd4a6e" /><Relationship Type="http://schemas.openxmlformats.org/officeDocument/2006/relationships/slide" Target="/ppt/slides/slide5.xml" Id="Rd407963e119d4f45" /><Relationship Type="http://schemas.openxmlformats.org/officeDocument/2006/relationships/slide" Target="/ppt/slides/slide6.xml" Id="Rf3b3b1a7233446bb" /><Relationship Type="http://schemas.openxmlformats.org/officeDocument/2006/relationships/slide" Target="/ppt/slides/slide7.xml" Id="R7a6c8a2f1f3247be" /><Relationship Type="http://schemas.openxmlformats.org/officeDocument/2006/relationships/slide" Target="/ppt/slides/slide8.xml" Id="Rfb285834f5d14311" /><Relationship Type="http://schemas.openxmlformats.org/officeDocument/2006/relationships/slide" Target="/ppt/slides/slide9.xml" Id="Rc882ac98f7a840bf" /><Relationship Type="http://schemas.openxmlformats.org/officeDocument/2006/relationships/slide" Target="/ppt/slides/slide10.xml" Id="R4265faeb9c504e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bfd61e9e8e4b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880b19633e474a" /><Relationship Type="http://schemas.openxmlformats.org/officeDocument/2006/relationships/notesMaster" Target="/ppt/notesMasters/notesMaster1.xml" Id="Ree65e2355d6a42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50bd560d884d6c" /><Relationship Type="http://schemas.openxmlformats.org/officeDocument/2006/relationships/notesMaster" Target="/ppt/notesMasters/notesMaster1.xml" Id="R00a55b1ba40543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ca25e3bf1e4ecf" /><Relationship Type="http://schemas.openxmlformats.org/officeDocument/2006/relationships/notesMaster" Target="/ppt/notesMasters/notesMaster1.xml" Id="R31937e2a7d0a4d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1ef7b48f654e08" /><Relationship Type="http://schemas.openxmlformats.org/officeDocument/2006/relationships/notesMaster" Target="/ppt/notesMasters/notesMaster1.xml" Id="R2bdd2d18215442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94fe672e5a4ed2" /><Relationship Type="http://schemas.openxmlformats.org/officeDocument/2006/relationships/notesMaster" Target="/ppt/notesMasters/notesMaster1.xml" Id="R73a0542b8c234e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b9117110754fda" /><Relationship Type="http://schemas.openxmlformats.org/officeDocument/2006/relationships/notesMaster" Target="/ppt/notesMasters/notesMaster1.xml" Id="Ra5d0df27d3b246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69541443834f7b" /><Relationship Type="http://schemas.openxmlformats.org/officeDocument/2006/relationships/notesMaster" Target="/ppt/notesMasters/notesMaster1.xml" Id="R32c4bd1ac37e44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8c182b061e41c4" /><Relationship Type="http://schemas.openxmlformats.org/officeDocument/2006/relationships/notesMaster" Target="/ppt/notesMasters/notesMaster1.xml" Id="R8058eb6dc62e49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f20c97331047e5" /><Relationship Type="http://schemas.openxmlformats.org/officeDocument/2006/relationships/notesMaster" Target="/ppt/notesMasters/notesMaster1.xml" Id="Rb93327cdf72249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e8e379fc564395" /><Relationship Type="http://schemas.openxmlformats.org/officeDocument/2006/relationships/notesMaster" Target="/ppt/notesMasters/notesMaster1.xml" Id="Rd7ebd5fd21e74f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ImageGen, generated 2026-08-30; local asset: docs/assets/tou-le-ma-decision-hero.png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product model and implementation: README.md; backend/main.py; skill-build/agent-vote/SKILL.md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Skill workflow: skill-build/agent-vote/SKILL.md; API contract: skill-build/agent-vote/references/contract.md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end-to-end product screenshot captured 2026-08-30: docs/assets/tou-le-ma-ui.png</a:t>
            </a:r>
          </a:p>
          <a:p xmlns:a="http://schemas.openxmlformats.org/drawingml/2006/main">
            <a:r>
              <a:t>- Rendered from the repository's Next.js frontend and FastAPI backend using samples/02-release-gate.json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Executable sample definitions: skill-build/agent-vote/samples/01-procurement.json</a:t>
            </a:r>
          </a:p>
          <a:p xmlns:a="http://schemas.openxmlformats.org/drawingml/2006/main">
            <a:r>
              <a:t>- skill-build/agent-vote/samples/02-release-gate.json</a:t>
            </a:r>
          </a:p>
          <a:p xmlns:a="http://schemas.openxmlformats.org/drawingml/2006/main">
            <a:r>
              <a:t>- skill-build/agent-vote/samples/03-incident-response.json</a:t>
            </a:r>
          </a:p>
          <a:p xmlns:a="http://schemas.openxmlformats.org/drawingml/2006/main">
            <a:r>
              <a:t>- Verified by skill-build/agent-vote/scripts/run_sample.py on 2026-08-30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Decision-pack implementation: backend/main.py</a:t>
            </a:r>
          </a:p>
          <a:p xmlns:a="http://schemas.openxmlformats.org/drawingml/2006/main">
            <a:r>
              <a:t>- Metrics verified from samples/02-release-gate.json by tests/test_enterprise.py and scripts/run_sample.py on 2026-08-30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Security controls and environment configuration: backend/main.py; backend/db.py; backend/.env.example</a:t>
            </a:r>
          </a:p>
          <a:p xmlns:a="http://schemas.openxmlformats.org/drawingml/2006/main">
            <a:r>
              <a:t>- Boundary regression tests: tests/test_enterprise.py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Competition judging dimensions and deliverables: https://luma.com/tintin-p6zk?locale=zh</a:t>
            </a:r>
          </a:p>
          <a:p xmlns:a="http://schemas.openxmlformats.org/drawingml/2006/main">
            <a:r>
              <a:t>- ClawHive Skill structure guidance: https://skills.netease.im/docs/BestPractices/skill-user-manual</a:t>
            </a:r>
          </a:p>
          <a:p xmlns:a="http://schemas.openxmlformats.org/drawingml/2006/main">
            <a:r>
              <a:t>- Repository evidence index: README.md and docs/submission-guide.md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capabilities and roadmap are separated in README.md</a:t>
            </a:r>
          </a:p>
          <a:p xmlns:a="http://schemas.openxmlformats.org/drawingml/2006/main">
            <a:r>
              <a:t>- ClawHive connection and asset-layer context: https://luma.com/tintin-p6zk?locale=zh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 assets: skill-build/agent-vote.zip; docs/demo-video-script.md; docs/submission-guide.md</a:t>
            </a:r>
          </a:p>
          <a:p xmlns:a="http://schemas.openxmlformats.org/drawingml/2006/main">
            <a:r>
              <a:t>- Deck evidence is grounded in repository tests and the three executable samples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1ae525f0ef43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243c445a124833" /><Relationship Type="http://schemas.openxmlformats.org/officeDocument/2006/relationships/slideLayout" Target="/ppt/slideLayouts/slideLayout1.xml" Id="R961d61162d4546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1d61162d4546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7b31027f94e87" /><Relationship Type="http://schemas.openxmlformats.org/officeDocument/2006/relationships/image" Target="/ppt/media/image.png" Id="R8ef797f228904ddd" /><Relationship Type="http://schemas.openxmlformats.org/officeDocument/2006/relationships/notesSlide" Target="/ppt/notesSlides/notesSlide1.xml" Id="Rc80e3b1376884e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eef33d35e48d5" /><Relationship Type="http://schemas.openxmlformats.org/officeDocument/2006/relationships/notesSlide" Target="/ppt/notesSlides/notesSlide2.xml" Id="R417f35a4b0244e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75968e1b64b85" /><Relationship Type="http://schemas.openxmlformats.org/officeDocument/2006/relationships/notesSlide" Target="/ppt/notesSlides/notesSlide3.xml" Id="Rbc521d034daf45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17f43052c462b" /><Relationship Type="http://schemas.openxmlformats.org/officeDocument/2006/relationships/image" Target="/ppt/media/image.jpeg" Id="R026bf2b124c54428" /><Relationship Type="http://schemas.openxmlformats.org/officeDocument/2006/relationships/notesSlide" Target="/ppt/notesSlides/notesSlide4.xml" Id="R5f324a4e6dd74a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3cb200b90447b" /><Relationship Type="http://schemas.openxmlformats.org/officeDocument/2006/relationships/notesSlide" Target="/ppt/notesSlides/notesSlide5.xml" Id="R539718380a854a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c1d722cae494d" /><Relationship Type="http://schemas.openxmlformats.org/officeDocument/2006/relationships/notesSlide" Target="/ppt/notesSlides/notesSlide6.xml" Id="Rd68163e5a58249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c8be01c634231" /><Relationship Type="http://schemas.openxmlformats.org/officeDocument/2006/relationships/notesSlide" Target="/ppt/notesSlides/notesSlide7.xml" Id="R5214ffc8b86640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72d65049b4c70" /><Relationship Type="http://schemas.openxmlformats.org/officeDocument/2006/relationships/notesSlide" Target="/ppt/notesSlides/notesSlide8.xml" Id="R3e7e50ccc1fa4b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b2c9a9fa348a8" /><Relationship Type="http://schemas.openxmlformats.org/officeDocument/2006/relationships/notesSlide" Target="/ppt/notesSlides/notesSlide9.xml" Id="R485c30526e4843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8a0b4c29b43fc" /><Relationship Type="http://schemas.openxmlformats.org/officeDocument/2006/relationships/notesSlide" Target="/ppt/notesSlides/notesSlide10.xml" Id="R088091a6672c40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028E0-DA03-4FC3-99C0-582A3DF2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ED4"/>
                </a:solidFill>
              </a:defRPr>
            </a:pPr>
            <a:r>
              <a:rPr sz="900" b="1">
                <a:solidFill>
                  <a:srgbClr val="1E5ED4"/>
                </a:solidFill>
              </a:rPr>
              <a:t>CLAWHIVE 企业级 SKILL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EF29E-E494-4522-99B7-0B61FF9E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投了么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E0422-743D-4EEF-89F9-F43CFDEC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多 Agent 决策，</a:t>
            </a:r>
          </a:p>
          <a:p xmlns:a="http://schemas.openxmlformats.org/drawingml/2006/main">
            <a:pPr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不止 2:1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A4276-3A32-40EE-B4B4-D0B18273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E6673"/>
                </a:solidFill>
              </a:defRPr>
            </a:pPr>
            <a:r>
              <a:rPr sz="1500" b="0">
                <a:solidFill>
                  <a:srgbClr val="5E6673"/>
                </a:solidFill>
              </a:rPr>
              <a:t>让每一张票带着证据进场，</a:t>
            </a:r>
          </a:p>
          <a:p xmlns:a="http://schemas.openxmlformats.org/drawingml/2006/main">
            <a:pPr>
              <a:defRPr sz="1500" b="0">
                <a:solidFill>
                  <a:srgbClr val="5E6673"/>
                </a:solidFill>
              </a:defRPr>
            </a:pPr>
            <a:r>
              <a:rPr sz="1500" b="0">
                <a:solidFill>
                  <a:srgbClr val="5E6673"/>
                </a:solidFill>
              </a:rPr>
              <a:t>让每一次决策可追溯、可复用。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4F9BA-BA14-4244-BBEF-D7AF303E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2781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0F12"/>
          </a:solidFill>
          <a:ln xmlns:a="http://schemas.openxmlformats.org/drawingml/2006/main" w="9525">
            <a:solidFill>
              <a:srgbClr val="0D0F1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8DC59-4BCB-498A-91C7-7A6DD62D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41020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 SAMPLES  ·  1 DECISION PACK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f797f228904ddd"/>
          <a:srcRect xmlns:a="http://schemas.openxmlformats.org/drawingml/2006/main" l="1510" t="0" r="15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76950" y="590550"/>
            <a:ext cx="5505450" cy="5676900"/>
          </a:xfrm>
          <a:prstGeom xmlns:a="http://schemas.openxmlformats.org/drawingml/2006/main" prst="roundRect">
            <a:avLst>
              <a:gd name="adj" fmla="val 2768"/>
            </a:avLst>
          </a:prstGeom>
        </p:spPr>
      </p:pic>
    </p:spTree>
    <p:extLst>
      <p:ext uri="{BB962C8B-B14F-4D97-AF65-F5344CB8AC3E}">
        <p14:creationId xmlns:p14="http://schemas.microsoft.com/office/powerpoint/2010/main" val="326789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8BBF8C-AA2C-41E6-9021-1C76986C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ED4"/>
                </a:solidFill>
              </a:defRPr>
            </a:pPr>
            <a:r>
              <a:rPr sz="900" b="1">
                <a:solidFill>
                  <a:srgbClr val="1E5ED4"/>
                </a:solidFill>
              </a:rPr>
              <a:t>THE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85053-548C-48B0-BE0F-BA54D7D1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企业有更多 Agent，却没有集体决策资产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25AC4-0396-4E35-AEFF-FED0E27F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E6673"/>
                </a:solidFill>
              </a:defRPr>
            </a:pPr>
            <a:r>
              <a:rPr sz="825" b="1">
                <a:solidFill>
                  <a:srgbClr val="5E6673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F6B93-BEDE-4830-AD40-B324A0A3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88ACD-FAF9-4E28-A85D-15EAEE61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4895850" cy="40386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F4F5F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92BBD-DE0B-4B73-B20D-F1829377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今天：结果留在对话里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B90A8-2C3D-45BB-9E3D-F80215F3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E6673"/>
                </a:solidFill>
              </a:defRPr>
            </a:pPr>
            <a:r>
              <a:rPr sz="1350" b="1">
                <a:solidFill>
                  <a:srgbClr val="5E6673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BDAA1-D956-408E-AD5D-361C62A1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95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3 份聊天记录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38AEF-4BAE-45AD-A57E-0B33524A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E6673"/>
                </a:solidFill>
              </a:defRPr>
            </a:pPr>
            <a:r>
              <a:rPr sz="1350" b="1">
                <a:solidFill>
                  <a:srgbClr val="5E6673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DA8B0-ABB8-41EA-8F95-F831DCE0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57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1 次人工汇总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2433B0-DA41-46FD-B1DD-4780483A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E6673"/>
                </a:solidFill>
              </a:defRPr>
            </a:pPr>
            <a:r>
              <a:rPr sz="1350" b="1">
                <a:solidFill>
                  <a:srgbClr val="5E6673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0326D-52FF-4C87-9295-1B7DA55B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196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0 份少数意见资产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09E27-C539-4654-9912-DB2ED422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790700"/>
            <a:ext cx="5810250" cy="40386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01D313-2A1A-4E8F-85B2-407BBBB1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145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E5ED4"/>
                </a:solidFill>
              </a:defRPr>
            </a:pPr>
            <a:r>
              <a:rPr sz="1800" b="1">
                <a:solidFill>
                  <a:srgbClr val="1E5ED4"/>
                </a:solidFill>
              </a:rPr>
              <a:t>投了么：一次决策完整留痕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ABEBA6-0C59-4434-B7B8-8E04FB48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95600"/>
            <a:ext cx="1143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F9EFF"/>
          </a:solidFill>
          <a:ln xmlns:a="http://schemas.openxmlformats.org/drawingml/2006/main" w="9525">
            <a:solidFill>
              <a:srgbClr val="5F9E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BA1084-90BB-4EDA-A4A7-BFC41F0B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统一议题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BE4D8B-3E43-4530-B159-0BDC230C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433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同一决策空间，不同 Agent 独立作答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C77F01-5D11-4B9E-9990-8ECFC725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90950"/>
            <a:ext cx="1143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F9EFF"/>
          </a:solidFill>
          <a:ln xmlns:a="http://schemas.openxmlformats.org/drawingml/2006/main" w="9525">
            <a:solidFill>
              <a:srgbClr val="5F9E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F8AA69-D4F1-4226-829D-5504EE13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719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证据绑定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5E24A8-BEB5-46C7-ACA4-AC2F3273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76700"/>
            <a:ext cx="433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结论、置信度、理由与来源一票封装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00FCEF-55D5-4905-9DA7-105623DA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86300"/>
            <a:ext cx="1143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F9EFF"/>
          </a:solidFill>
          <a:ln xmlns:a="http://schemas.openxmlformats.org/drawingml/2006/main" w="9525">
            <a:solidFill>
              <a:srgbClr val="5F9E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C3B33F-1B9A-4814-80B2-BAA7F792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67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Decision Pack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3D8FA9-4C01-425C-997A-7A171C06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72050"/>
            <a:ext cx="433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共识、分歧、覆盖度、等级与稳定哈希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7A8005-E37B-44E0-AC1A-23C2C2AF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9098A3"/>
                </a:solidFill>
              </a:defRPr>
            </a:pPr>
            <a:r>
              <a:rPr sz="675" b="1">
                <a:solidFill>
                  <a:srgbClr val="9098A3"/>
                </a:solidFill>
              </a:rPr>
              <a:t>TOULEMA / CLAWHIVE SKILL</a:t>
            </a:r>
          </a:p>
        </p:txBody>
      </p:sp>
    </p:spTree>
    <p:extLst>
      <p:ext uri="{BB962C8B-B14F-4D97-AF65-F5344CB8AC3E}">
        <p14:creationId xmlns:p14="http://schemas.microsoft.com/office/powerpoint/2010/main" val="13230837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3E34C0-2909-4AA1-A409-A6FE0F19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ED4"/>
                </a:solidFill>
              </a:defRPr>
            </a:pPr>
            <a:r>
              <a:rPr sz="900" b="1">
                <a:solidFill>
                  <a:srgbClr val="1E5ED4"/>
                </a:solidFill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ADCD4-E8B8-4BAD-B462-9D1583C9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4 步，从业务问题到可审计 Decision Pack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A8B98-07CB-4A87-BEA2-360A51CD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E6673"/>
                </a:solidFill>
              </a:defRPr>
            </a:pPr>
            <a:r>
              <a:rPr sz="825" b="1">
                <a:solidFill>
                  <a:srgbClr val="5E6673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28E25-1F51-4389-8C1B-828C2CBA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81282-78B7-4861-A1D9-EA69C6DF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28950"/>
            <a:ext cx="742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8CA2C-A06B-4257-830A-414B5060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28950"/>
            <a:ext cx="742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496ED-5887-4C0C-83DD-754A2737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28950"/>
            <a:ext cx="742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644DE-CCCA-4AAA-ABF8-7F3788B4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400300" cy="24003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44BFF-72D3-4967-BA17-65F5CC48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5ED4"/>
                </a:solidFill>
              </a:defRPr>
            </a:pPr>
            <a:r>
              <a:rPr sz="1050" b="1">
                <a:solidFill>
                  <a:srgbClr val="1E5ED4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42C33-2DE7-40C6-934A-FB977C83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6673"/>
                </a:solidFill>
              </a:defRPr>
            </a:pPr>
            <a:r>
              <a:rPr sz="900" b="1">
                <a:solidFill>
                  <a:srgbClr val="5E6673"/>
                </a:solidFill>
              </a:rPr>
              <a:t>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689DEC-E8AD-4103-A365-178E7FB1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943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创建议题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8F56B-E535-44DF-94AA-260B15D8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选项 · 截止时间 · 可见性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6A8D8-80C7-484A-8A5C-4417B3CF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66950"/>
            <a:ext cx="2400300" cy="24003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83341-9130-45FD-B00B-00BD573F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5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5ED4"/>
                </a:solidFill>
              </a:defRPr>
            </a:pPr>
            <a:r>
              <a:rPr sz="1050" b="1">
                <a:solidFill>
                  <a:srgbClr val="1E5ED4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ADEBC-CF0D-400D-A267-EB6E465F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76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6673"/>
                </a:solidFill>
              </a:defRPr>
            </a:pPr>
            <a:r>
              <a:rPr sz="900" b="1">
                <a:solidFill>
                  <a:srgbClr val="5E6673"/>
                </a:solidFill>
              </a:rPr>
              <a:t>VOTE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5F1467-E41F-4FEC-A42A-135AF4D2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05150"/>
            <a:ext cx="1943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Agent 独立投票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EA96FD-A63B-4F6B-8D47-8D390C3E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0525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结论 · 置信度 · 理由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D03DBC-7729-4C06-8E2F-6E43C77B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2400300" cy="24003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55E82F-F613-4C9E-8765-4A3DD42F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5ED4"/>
                </a:solidFill>
              </a:defRPr>
            </a:pPr>
            <a:r>
              <a:rPr sz="1050" b="1">
                <a:solidFill>
                  <a:srgbClr val="1E5ED4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387FBB-65FC-4547-A839-A954796A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76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E6673"/>
                </a:solidFill>
              </a:defRPr>
            </a:pPr>
            <a:r>
              <a:rPr sz="900" b="1">
                <a:solidFill>
                  <a:srgbClr val="5E6673"/>
                </a:solidFill>
              </a:rPr>
              <a:t>BIND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892139-9C1D-42CA-837E-5DCBDFDA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05150"/>
            <a:ext cx="1943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证据来源绑定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A56D98-0317-431E-B0CC-1269F4B0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source URL/ID · 因素评分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D382F7-D733-4984-AD75-0C87AEB6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2400300" cy="24003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D0F12"/>
          </a:solidFill>
          <a:ln xmlns:a="http://schemas.openxmlformats.org/drawingml/2006/main" w="9525">
            <a:solidFill>
              <a:srgbClr val="0D0F1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A83C80-F31C-455A-8371-C19AD515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5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9EFF"/>
                </a:solidFill>
              </a:defRPr>
            </a:pPr>
            <a:r>
              <a:rPr sz="1050" b="1">
                <a:solidFill>
                  <a:srgbClr val="5F9EFF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E884DB-6262-4C6D-94B5-3B03381A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76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816805-7CF6-49CD-AAC3-2D68F82C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05150"/>
            <a:ext cx="1943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聚合为决策包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7A4794-F6A5-4BE4-9C5A-8BB8B5B2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0525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FC7D2"/>
                </a:solidFill>
              </a:defRPr>
            </a:pPr>
            <a:r>
              <a:rPr sz="1050" b="0">
                <a:solidFill>
                  <a:srgbClr val="BFC7D2"/>
                </a:solidFill>
              </a:rPr>
              <a:t>共识 · 分歧 · 等级 · 哈希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B4421F-101F-480C-9542-AF976A39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输出不是“大多数说了什么”，而是“这个结论为什么可信”。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8605DF-438D-4110-9432-574F6EC2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9098A3"/>
                </a:solidFill>
              </a:defRPr>
            </a:pPr>
            <a:r>
              <a:rPr sz="675" b="1">
                <a:solidFill>
                  <a:srgbClr val="9098A3"/>
                </a:solidFill>
              </a:rPr>
              <a:t>TOULEMA / CLAWHIVE SKILL</a:t>
            </a:r>
          </a:p>
        </p:txBody>
      </p:sp>
    </p:spTree>
    <p:extLst>
      <p:ext uri="{BB962C8B-B14F-4D97-AF65-F5344CB8AC3E}">
        <p14:creationId xmlns:p14="http://schemas.microsoft.com/office/powerpoint/2010/main" val="4862079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144884-AB13-4889-A9B3-E91303FC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ED4"/>
                </a:solidFill>
              </a:defRPr>
            </a:pPr>
            <a:r>
              <a:rPr sz="900" b="1">
                <a:solidFill>
                  <a:srgbClr val="1E5ED4"/>
                </a:solidFill>
              </a:rPr>
              <a:t>PRODUCT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9487B-375C-4513-B80E-5C2300A6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一张票，同时携带结论与证据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F16A5-EC24-43BF-ADE7-E818D32C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E6673"/>
                </a:solidFill>
              </a:defRPr>
            </a:pPr>
            <a:r>
              <a:rPr sz="825" b="1">
                <a:solidFill>
                  <a:srgbClr val="5E6673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ADF4C-EA0E-49E1-8EAF-FAC5BFC6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F7E34-2EDB-400B-A62D-FB522E8A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E5ED4"/>
                </a:solidFill>
              </a:defRPr>
            </a:pPr>
            <a:r>
              <a:rPr sz="1500" b="1">
                <a:solidFill>
                  <a:srgbClr val="1E5ED4"/>
                </a:solidFill>
              </a:rPr>
              <a:t>不停在“投票结果”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50A84-A0F7-4EA6-9113-29EAFE0B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参与者、因素分数、来源、</a:t>
            </a:r>
          </a:p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共识与分歧，</a:t>
            </a:r>
          </a:p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进入同一个可验证快照。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ABFA5-2AC8-40DE-899E-47FC33DB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5ED4"/>
                </a:solidFill>
              </a:defRPr>
            </a:pPr>
            <a:r>
              <a:rPr sz="1200" b="1">
                <a:solidFill>
                  <a:srgbClr val="1E5ED4"/>
                </a:solidFill>
              </a:rPr>
              <a:t>独立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FD6426-A87E-4923-81BF-797C3454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052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673"/>
                </a:solidFill>
              </a:defRPr>
            </a:pPr>
            <a:r>
              <a:rPr sz="1125" b="0">
                <a:solidFill>
                  <a:srgbClr val="5E6673"/>
                </a:solidFill>
              </a:rPr>
              <a:t>每个 Agent 单独身份与 API Key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6F9F4-B9B1-4F8F-AB69-075FB8F2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5ED4"/>
                </a:solidFill>
              </a:defRPr>
            </a:pPr>
            <a:r>
              <a:rPr sz="1200" b="1">
                <a:solidFill>
                  <a:srgbClr val="1E5ED4"/>
                </a:solidFill>
              </a:rPr>
              <a:t>可查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61F760-2FDC-4C19-803D-37AFC6D0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148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673"/>
                </a:solidFill>
              </a:defRPr>
            </a:pPr>
            <a:r>
              <a:rPr sz="1125" b="0">
                <a:solidFill>
                  <a:srgbClr val="5E6673"/>
                </a:solidFill>
              </a:rPr>
              <a:t>因素评分与 source_id 可回溯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05426-76C9-4BF5-B274-7EA2DF35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5ED4"/>
                </a:solidFill>
              </a:defRPr>
            </a:pPr>
            <a:r>
              <a:rPr sz="1200" b="1">
                <a:solidFill>
                  <a:srgbClr val="1E5ED4"/>
                </a:solidFill>
              </a:rPr>
              <a:t>可验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230F8F-AC7C-47E5-B97D-4439AA6C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244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673"/>
                </a:solidFill>
              </a:defRPr>
            </a:pPr>
            <a:r>
              <a:rPr sz="1125" b="0">
                <a:solidFill>
                  <a:srgbClr val="5E6673"/>
                </a:solidFill>
              </a:rPr>
              <a:t>规范化 JSON 生成 SHA-256 哈希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535EC-8A76-45CA-ADAA-75201253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28800"/>
            <a:ext cx="6858000" cy="40386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0D0F12"/>
          </a:solidFill>
          <a:ln xmlns:a="http://schemas.openxmlformats.org/drawingml/2006/main" w="9525">
            <a:solidFill>
              <a:srgbClr val="0D0F1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bf2b124c54428"/>
          <a:srcRect xmlns:a="http://schemas.openxmlformats.org/drawingml/2006/main" l="822" t="0" r="8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962150"/>
            <a:ext cx="6591300" cy="3771900"/>
          </a:xfrm>
          <a:prstGeom xmlns:a="http://schemas.openxmlformats.org/drawingml/2006/main" prst="roundRect">
            <a:avLst>
              <a:gd name="adj" fmla="val 404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0E83F5-7AB5-4D85-BF41-3D9810AC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9098A3"/>
                </a:solidFill>
              </a:defRPr>
            </a:pPr>
            <a:r>
              <a:rPr sz="675" b="1">
                <a:solidFill>
                  <a:srgbClr val="9098A3"/>
                </a:solidFill>
              </a:rPr>
              <a:t>TOULEMA / CLAWHIVE SKILL</a:t>
            </a:r>
          </a:p>
        </p:txBody>
      </p:sp>
    </p:spTree>
    <p:extLst>
      <p:ext uri="{BB962C8B-B14F-4D97-AF65-F5344CB8AC3E}">
        <p14:creationId xmlns:p14="http://schemas.microsoft.com/office/powerpoint/2010/main" val="15378990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F5572C-93C7-4771-A779-2B2D4E64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ED4"/>
                </a:solidFill>
              </a:defRPr>
            </a:pPr>
            <a:r>
              <a:rPr sz="900" b="1">
                <a:solidFill>
                  <a:srgbClr val="1E5ED4"/>
                </a:solidFill>
              </a:rPr>
              <a:t>3 REQUIRED SAMPLES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596F8-91E1-4316-81DE-55DE0DAF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同一 Skill，跨 3 类企业决策场景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64250-0001-4184-A2A3-27CE9D36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E6673"/>
                </a:solidFill>
              </a:defRPr>
            </a:pPr>
            <a:r>
              <a:rPr sz="825" b="1">
                <a:solidFill>
                  <a:srgbClr val="5E6673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F1485-F7AF-4839-B080-36F4E316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F2B97-8572-4677-9A35-515C3314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352800" cy="39052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92EB4-45AA-4B04-AAA1-A29B22DB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9EFF"/>
                </a:solidFill>
              </a:defRPr>
            </a:pPr>
            <a:r>
              <a:rPr sz="1050" b="1">
                <a:solidFill>
                  <a:srgbClr val="5F9E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4427A-3B9F-422A-8C27-A6719855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57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E6673"/>
                </a:solidFill>
              </a:defRPr>
            </a:pPr>
            <a:r>
              <a:rPr sz="1050" b="1">
                <a:solidFill>
                  <a:srgbClr val="5E6673"/>
                </a:solidFill>
              </a:rPr>
              <a:t>采购评审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487E9-392D-4EC3-8AC7-6D93F6C3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供应商选型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9C466-BB3E-44DA-BCB1-2BDE3F11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5ED4"/>
                </a:solidFill>
              </a:defRPr>
            </a:pPr>
            <a:r>
              <a:rPr sz="1200" b="1">
                <a:solidFill>
                  <a:srgbClr val="1E5ED4"/>
                </a:solidFill>
              </a:rPr>
              <a:t>领先选项  供应商乙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5CDC3-75B9-4F84-8AB9-9DC3B39D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2:1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7A27D-82C9-49E9-AFFB-37835CF0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13385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75B"/>
                </a:solidFill>
              </a:defRPr>
            </a:pPr>
            <a:r>
              <a:rPr sz="1800" b="1">
                <a:solidFill>
                  <a:srgbClr val="16875B"/>
                </a:solidFill>
              </a:rPr>
              <a:t>A 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F00837-C1AD-444E-9591-36A42A04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171950"/>
            <a:ext cx="81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E6673"/>
                </a:solidFill>
              </a:defRPr>
            </a:pPr>
            <a:r>
              <a:rPr sz="1200" b="1">
                <a:solidFill>
                  <a:srgbClr val="5E6673"/>
                </a:solidFill>
              </a:rPr>
              <a:t>3 来源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0DF649-CC24-4584-9801-4C5AACA8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商务 / 安全 / 技术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AF8BE0-61D8-4FA9-BEEA-EA173B64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3352800" cy="39052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D0F12"/>
          </a:solidFill>
          <a:ln xmlns:a="http://schemas.openxmlformats.org/drawingml/2006/main" w="9525">
            <a:solidFill>
              <a:srgbClr val="0D0F1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40D1C4-553D-42A2-BC3E-A73725A9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38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9EFF"/>
                </a:solidFill>
              </a:defRPr>
            </a:pPr>
            <a:r>
              <a:rPr sz="1050" b="1">
                <a:solidFill>
                  <a:srgbClr val="5F9EFF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91D3C-079E-4219-BB9C-126D154D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57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上线门禁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C217F7-6397-4E9E-9837-BEA6A3ED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051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生产发布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DAA48-4A62-4B14-B598-759C8F78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671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9EFF"/>
                </a:solidFill>
              </a:defRPr>
            </a:pPr>
            <a:r>
              <a:rPr sz="1200" b="1">
                <a:solidFill>
                  <a:srgbClr val="5F9EFF"/>
                </a:solidFill>
              </a:rPr>
              <a:t>领先选项  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629BD4-47E6-4484-A822-917B13A6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9575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2:1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140F72-4730-40B8-9D29-006713A1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3385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75B"/>
                </a:solidFill>
              </a:defRPr>
            </a:pPr>
            <a:r>
              <a:rPr sz="1800" b="1">
                <a:solidFill>
                  <a:srgbClr val="16875B"/>
                </a:solidFill>
              </a:rPr>
              <a:t>A 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F95D72-6F6A-42E7-9A1C-C8BDB9F2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71950"/>
            <a:ext cx="81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 来源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2A3C62-E825-438C-AD70-4C835EBF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530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FC7D2"/>
                </a:solidFill>
              </a:defRPr>
            </a:pPr>
            <a:r>
              <a:rPr sz="1050" b="0">
                <a:solidFill>
                  <a:srgbClr val="BFC7D2"/>
                </a:solidFill>
              </a:rPr>
              <a:t>安全 / 运维 / 产品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B87FD9-6E05-4B62-9D17-74F5E28D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352800" cy="39052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BB2EBE-D502-463F-BE8F-380D8BB8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9EFF"/>
                </a:solidFill>
              </a:defRPr>
            </a:pPr>
            <a:r>
              <a:rPr sz="1050" b="1">
                <a:solidFill>
                  <a:srgbClr val="5F9EFF"/>
                </a:solidFill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2B0692-CA7E-4A57-BBCD-05A11EE1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57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E6673"/>
                </a:solidFill>
              </a:defRPr>
            </a:pPr>
            <a:r>
              <a:rPr sz="1050" b="1">
                <a:solidFill>
                  <a:srgbClr val="5E6673"/>
                </a:solidFill>
              </a:rPr>
              <a:t>事故响应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FA026F-9734-456C-8D29-D6A6D377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051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紧急止损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B6BAFC-551C-4391-8AB2-40C15F43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671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5ED4"/>
                </a:solidFill>
              </a:defRPr>
            </a:pPr>
            <a:r>
              <a:rPr sz="1200" b="1">
                <a:solidFill>
                  <a:srgbClr val="1E5ED4"/>
                </a:solidFill>
              </a:rPr>
              <a:t>领先选项  回滚版本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93EF54-301B-44F5-8579-DA153151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2:1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08E6F2-64AE-40CD-B6F2-BF6849A9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3385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75B"/>
                </a:solidFill>
              </a:defRPr>
            </a:pPr>
            <a:r>
              <a:rPr sz="1800" b="1">
                <a:solidFill>
                  <a:srgbClr val="16875B"/>
                </a:solidFill>
              </a:rPr>
              <a:t>A 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09F7DC-B35E-4EA6-945A-AEE0A1D1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171950"/>
            <a:ext cx="81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E6673"/>
                </a:solidFill>
              </a:defRPr>
            </a:pPr>
            <a:r>
              <a:rPr sz="1200" b="1">
                <a:solidFill>
                  <a:srgbClr val="5E6673"/>
                </a:solidFill>
              </a:rPr>
              <a:t>3 来源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143EE0-DFBD-4C7A-95A3-265E3554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530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SRE / 产品 / 安全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DE7FCF-5831-495D-837D-DD20A954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9098A3"/>
                </a:solidFill>
              </a:defRPr>
            </a:pPr>
            <a:r>
              <a:rPr sz="675" b="1">
                <a:solidFill>
                  <a:srgbClr val="9098A3"/>
                </a:solidFill>
              </a:rPr>
              <a:t>TOULEMA / CLAWHIVE SKILL</a:t>
            </a:r>
          </a:p>
        </p:txBody>
      </p:sp>
    </p:spTree>
    <p:extLst>
      <p:ext uri="{BB962C8B-B14F-4D97-AF65-F5344CB8AC3E}">
        <p14:creationId xmlns:p14="http://schemas.microsoft.com/office/powerpoint/2010/main" val="4244568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CDC5A9-ED46-4A17-B265-B62A66DA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ED4"/>
                </a:solidFill>
              </a:defRPr>
            </a:pPr>
            <a:r>
              <a:rPr sz="900" b="1">
                <a:solidFill>
                  <a:srgbClr val="1E5ED4"/>
                </a:solidFill>
              </a:rPr>
              <a:t>DECISION PACK / V1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DF028-0CF0-4F10-B720-6D3978CB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用可计算指标替代“感觉可靠”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31AC1-CAC3-4993-AA2E-B21EEC12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E6673"/>
                </a:solidFill>
              </a:defRPr>
            </a:pPr>
            <a:r>
              <a:rPr sz="825" b="1">
                <a:solidFill>
                  <a:srgbClr val="5E6673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7CD28-686E-4E0B-8C3D-B832A33F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5F43F-6214-4195-855B-AA8A7C43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23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11111"/>
                </a:solidFill>
              </a:defRPr>
            </a:pPr>
            <a:r>
              <a:rPr sz="5400" b="1">
                <a:solidFill>
                  <a:srgbClr val="111111"/>
                </a:solidFill>
              </a:rPr>
              <a:t>67%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DE035-1C41-45D5-88BE-4A5DABB8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共识度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1F292-C06B-4E3D-8F32-641A9CAE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2/3 Agent 选择同一结论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32D92-2582-4462-94AA-457BF53B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320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98E43-8B81-48BE-88F9-4774B2F1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19300"/>
            <a:ext cx="323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E5ED4"/>
                </a:solidFill>
              </a:defRPr>
            </a:pPr>
            <a:r>
              <a:rPr sz="5400" b="1">
                <a:solidFill>
                  <a:srgbClr val="1E5ED4"/>
                </a:solidFill>
              </a:rPr>
              <a:t>100%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E05BA-47DF-483D-AFA2-418DF379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证据绑定覆盖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7F5BD-21A9-4206-993F-2A1A213B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195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3/3 有效票携带来源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A0577E-7053-4D1B-81E3-2540524A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81500"/>
            <a:ext cx="320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AE4FE-9811-42B4-AB9B-E510091E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19300"/>
            <a:ext cx="323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11111"/>
                </a:solidFill>
              </a:defRPr>
            </a:pPr>
            <a:r>
              <a:rPr sz="5400" b="1">
                <a:solidFill>
                  <a:srgbClr val="111111"/>
                </a:solidFill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A820D6-5F9D-42C7-913E-DE0A71B7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432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决策质量等级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CD28A1-7119-4A27-8344-EB633982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195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共识与证据同时达标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C02C04-753C-451B-8BD7-49FFDEFC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81500"/>
            <a:ext cx="320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2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67DFD7-E5C7-41E9-A2AD-AB9AA523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0D0F12"/>
          </a:solidFill>
          <a:ln xmlns:a="http://schemas.openxmlformats.org/drawingml/2006/main" w="9525">
            <a:solidFill>
              <a:srgbClr val="0D0F1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96EE8F-B0BD-4F60-ABA7-1F04E010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9EFF"/>
                </a:solidFill>
              </a:defRPr>
            </a:pPr>
            <a:r>
              <a:rPr sz="1200" b="1">
                <a:solidFill>
                  <a:srgbClr val="5F9EFF"/>
                </a:solidFill>
              </a:rPr>
              <a:t>SHA-256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2CE1FE-93F6-4493-B01E-F136F24C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81600"/>
            <a:ext cx="862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规范化 JSON → 稳定快照哈希 → 可对比、可验收、可审计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481F0C-163F-4266-BA19-8C081D95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9098A3"/>
                </a:solidFill>
              </a:defRPr>
            </a:pPr>
            <a:r>
              <a:rPr sz="675" b="1">
                <a:solidFill>
                  <a:srgbClr val="9098A3"/>
                </a:solidFill>
              </a:rPr>
              <a:t>TOULEMA / CLAWHIVE SKILL</a:t>
            </a:r>
          </a:p>
        </p:txBody>
      </p:sp>
    </p:spTree>
    <p:extLst>
      <p:ext uri="{BB962C8B-B14F-4D97-AF65-F5344CB8AC3E}">
        <p14:creationId xmlns:p14="http://schemas.microsoft.com/office/powerpoint/2010/main" val="10720110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E91D3A-2636-47F3-BDC1-005DFC09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ED4"/>
                </a:solidFill>
              </a:defRPr>
            </a:pPr>
            <a:r>
              <a:rPr sz="900" b="1">
                <a:solidFill>
                  <a:srgbClr val="1E5ED4"/>
                </a:solidFill>
              </a:rPr>
              <a:t>ENTERPRISE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21751-DB98-413F-A35B-4A7DD6A8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安全不是一个卖点，而是每个端点的默认边界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3C9EB-80AA-4BB4-9699-CEB23827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E6673"/>
                </a:solidFill>
              </a:defRPr>
            </a:pPr>
            <a:r>
              <a:rPr sz="825" b="1">
                <a:solidFill>
                  <a:srgbClr val="5E6673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9CEFF-8E97-4CEC-BAB9-163E7EE4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146F7E-1DC5-4AF3-9401-D423D7A6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733800" cy="40957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0D0F12"/>
          </a:solidFill>
          <a:ln xmlns:a="http://schemas.openxmlformats.org/drawingml/2006/main" w="9525">
            <a:solidFill>
              <a:srgbClr val="0D0F1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A0E62-72DC-43BF-93E8-964E5681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DEFAULT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DENY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53725-F653-4375-88DB-CB1476E6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2819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8D0DA"/>
                </a:solidFill>
              </a:defRPr>
            </a:pPr>
            <a:r>
              <a:rPr sz="1425" b="1">
                <a:solidFill>
                  <a:srgbClr val="C8D0DA"/>
                </a:solidFill>
              </a:rPr>
              <a:t>凭证错误、风险越界、管理端点未授权：统一拒绝。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55449-F96C-43DD-ABA0-FDE56954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F9EFF"/>
                </a:solidFill>
              </a:defRPr>
            </a:pPr>
            <a:r>
              <a:rPr sz="975" b="0">
                <a:solidFill>
                  <a:srgbClr val="5F9EFF"/>
                </a:solidFill>
              </a:rPr>
              <a:t>这是已实现的基线，不冒充平台级合规认证。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2C341-F981-459F-96AA-E3F69D4A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24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5ED4"/>
                </a:solidFill>
              </a:defRPr>
            </a:pPr>
            <a:r>
              <a:rPr sz="1125" b="1">
                <a:solidFill>
                  <a:srgbClr val="1E5ED4"/>
                </a:solidFill>
              </a:rPr>
              <a:t>身份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150C9-21BD-47D4-8DBE-0760A2A4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47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Bearer Agent Key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96419-9FF6-4DC6-B02B-DFB30846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每个 Agent 独立凭证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4BCC1-8CAB-4262-9888-52680640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43200"/>
            <a:ext cx="674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C5B2B-E1EF-4D3F-81E4-B11B9D54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5ED4"/>
                </a:solidFill>
              </a:defRPr>
            </a:pPr>
            <a:r>
              <a:rPr sz="1125" b="1">
                <a:solidFill>
                  <a:srgbClr val="1E5ED4"/>
                </a:solidFill>
              </a:rPr>
              <a:t>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37871-DAA4-4371-AE3F-A8896176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575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X-Admin-Key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183992-F480-4992-94C1-E3CDDAED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上下线等管理操作与普通接口分离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ADB6B3-1F00-4C2A-95BB-D6A950E5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52850"/>
            <a:ext cx="674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EBBAB3-87D9-4A79-A5C4-C0E55C1D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433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5ED4"/>
                </a:solidFill>
              </a:defRPr>
            </a:pPr>
            <a:r>
              <a:rPr sz="1125" b="1">
                <a:solidFill>
                  <a:srgbClr val="1E5ED4"/>
                </a:solidFill>
              </a:rPr>
              <a:t>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F9A342-AC20-4356-B425-A1ECF4F5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671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CORS Allowlist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F18B86-19F1-41D4-9DD0-8B3D1233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默认仅本地开发域，生产由环境变量配置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EBAEFE-A9B4-40D8-8F52-75131B54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762500"/>
            <a:ext cx="674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7543E1-62EE-44A1-99FD-4A14C82E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53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5ED4"/>
                </a:solidFill>
              </a:defRPr>
            </a:pPr>
            <a:r>
              <a:rPr sz="1125" b="1">
                <a:solidFill>
                  <a:srgbClr val="1E5ED4"/>
                </a:solidFill>
              </a:rPr>
              <a:t>数据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860644-3C01-4B0F-AA83-9D91FB59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768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External DB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2F8C51-903A-4A62-9295-A660A092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768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运行数据与 Skill 包解耦，不打入 ZIP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DCFEBF-BD23-46ED-8117-355FDD99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72150"/>
            <a:ext cx="674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800F3E-7AAB-414B-B959-8974596F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9098A3"/>
                </a:solidFill>
              </a:defRPr>
            </a:pPr>
            <a:r>
              <a:rPr sz="675" b="1">
                <a:solidFill>
                  <a:srgbClr val="9098A3"/>
                </a:solidFill>
              </a:rPr>
              <a:t>TOULEMA / CLAWHIVE SKILL</a:t>
            </a:r>
          </a:p>
        </p:txBody>
      </p:sp>
    </p:spTree>
    <p:extLst>
      <p:ext uri="{BB962C8B-B14F-4D97-AF65-F5344CB8AC3E}">
        <p14:creationId xmlns:p14="http://schemas.microsoft.com/office/powerpoint/2010/main" val="6579996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012435-FDC1-49E5-B76F-B6FA7A69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ED4"/>
                </a:solidFill>
              </a:defRPr>
            </a:pPr>
            <a:r>
              <a:rPr sz="900" b="1">
                <a:solidFill>
                  <a:srgbClr val="1E5ED4"/>
                </a:solidFill>
              </a:rPr>
              <a:t>JUDGE FIT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29158-766A-4889-9CA2-8DD9394A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四个评审维度，四组现场可验证证据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1A6EB-B8BB-4E8B-9EB5-0ADF9A79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E6673"/>
                </a:solidFill>
              </a:defRPr>
            </a:pPr>
            <a:r>
              <a:rPr sz="825" b="1">
                <a:solidFill>
                  <a:srgbClr val="5E6673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B1BB3-8B00-40BA-852B-10D316BE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2042F-7EFA-4C45-BB48-CC79DE13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5ED4"/>
                </a:solidFill>
              </a:defRPr>
            </a:pPr>
            <a:r>
              <a:rPr sz="1350" b="1">
                <a:solidFill>
                  <a:srgbClr val="1E5ED4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8580C-E53A-449D-9589-96553985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57375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商业价值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7C581-AAC4-4C32-A751-4F1F1BAC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28800"/>
            <a:ext cx="681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673"/>
                </a:solidFill>
              </a:defRPr>
            </a:pPr>
            <a:r>
              <a:rPr sz="1275" b="0">
                <a:solidFill>
                  <a:srgbClr val="5E6673"/>
                </a:solidFill>
              </a:rPr>
              <a:t>采购、上线、事故处置：高频、跨角色、需要留痕的企业决策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08D85-99DE-4923-BAF2-16C2DB1E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857375"/>
            <a:ext cx="666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038D6-39D8-491A-BF39-B208B6B5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9335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E5ED4"/>
                </a:solidFill>
              </a:defRPr>
            </a:pPr>
            <a:r>
              <a:rPr sz="750" b="1">
                <a:solidFill>
                  <a:srgbClr val="1E5ED4"/>
                </a:solidFill>
              </a:rPr>
              <a:t>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A02D4-A5BD-498D-B35F-B109119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9EEE37-1F5D-4034-AC66-341A5E23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5ED4"/>
                </a:solidFill>
              </a:defRPr>
            </a:pPr>
            <a:r>
              <a:rPr sz="1350" b="1">
                <a:solidFill>
                  <a:srgbClr val="1E5ED4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2D7219-603A-4E91-A132-A00D854A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24175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创新性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5FEDC-3993-4D1F-8CE7-0DE5943F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95600"/>
            <a:ext cx="681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673"/>
                </a:solidFill>
              </a:defRPr>
            </a:pPr>
            <a:r>
              <a:rPr sz="1275" b="0">
                <a:solidFill>
                  <a:srgbClr val="5E6673"/>
                </a:solidFill>
              </a:rPr>
              <a:t>不做聚合聊天；做结论 + 证据 + 分歧 + 哈希的 Decision Pack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7D28EA-ABE3-48FD-B79B-6E56AD8E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924175"/>
            <a:ext cx="666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2AA869-F5A9-4E9D-8B04-A1EABD56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003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E5ED4"/>
                </a:solidFill>
              </a:defRPr>
            </a:pPr>
            <a:r>
              <a:rPr sz="750" b="1">
                <a:solidFill>
                  <a:srgbClr val="1E5ED4"/>
                </a:solidFill>
              </a:rPr>
              <a:t>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BA09D-A769-4865-AD18-464183CE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012DD9-5AC8-430C-9130-4E578D61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5ED4"/>
                </a:solidFill>
              </a:defRPr>
            </a:pPr>
            <a:r>
              <a:rPr sz="1350" b="1">
                <a:solidFill>
                  <a:srgbClr val="1E5ED4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2DB075-AF5B-4DF1-805E-C24F4520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90975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技能包完整度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2E7D09-BFD7-44D2-901F-25FAD308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62400"/>
            <a:ext cx="681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673"/>
                </a:solidFill>
              </a:defRPr>
            </a:pPr>
            <a:r>
              <a:rPr sz="1275" b="0">
                <a:solidFill>
                  <a:srgbClr val="5E6673"/>
                </a:solidFill>
              </a:rPr>
              <a:t>SKILL.md + 运行脚本 + 契约 + 运维手册 + 3 Samples + 自校验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A44530-4284-4E77-B885-92CA29FB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990975"/>
            <a:ext cx="666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0F12"/>
          </a:solidFill>
          <a:ln xmlns:a="http://schemas.openxmlformats.org/drawingml/2006/main" w="9525">
            <a:solidFill>
              <a:srgbClr val="0D0F1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41B0B1-6092-47F2-B2A3-89860F2D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671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3A41FE-0F3C-49C2-9232-FA2987BC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954076-FB6C-4F3E-BEF6-93A094B0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5ED4"/>
                </a:solidFill>
              </a:defRPr>
            </a:pPr>
            <a:r>
              <a:rPr sz="1350" b="1">
                <a:solidFill>
                  <a:srgbClr val="1E5ED4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3F34DC-1BAA-46F7-8BC8-370E8A27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57775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可复用稳定性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1CD2E3-BEE6-4B2C-B5C0-AE4F6678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29200"/>
            <a:ext cx="681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E6673"/>
                </a:solidFill>
              </a:defRPr>
            </a:pPr>
            <a:r>
              <a:rPr sz="1275" b="0">
                <a:solidFill>
                  <a:srgbClr val="5E6673"/>
                </a:solidFill>
              </a:rPr>
              <a:t>参数化业务问题；幂等投票；风险分级；回归测试；确定性 ZIP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77EE2C-9B3E-4781-86A6-8A67B31F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5057775"/>
            <a:ext cx="666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780E52-4C4B-47E8-9607-0F153D00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339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E5ED4"/>
                </a:solidFill>
              </a:defRPr>
            </a:pPr>
            <a:r>
              <a:rPr sz="750" b="1">
                <a:solidFill>
                  <a:srgbClr val="1E5ED4"/>
                </a:solidFill>
              </a:rPr>
              <a:t>PASS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7A278C-0DE6-472C-9D20-5B9807FC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AD026C-7282-4C3F-9C3B-2B5CC6C4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9098A3"/>
                </a:solidFill>
              </a:defRPr>
            </a:pPr>
            <a:r>
              <a:rPr sz="675" b="1">
                <a:solidFill>
                  <a:srgbClr val="9098A3"/>
                </a:solidFill>
              </a:rPr>
              <a:t>TOULEMA / CLAWHIVE SKILL</a:t>
            </a:r>
          </a:p>
        </p:txBody>
      </p:sp>
    </p:spTree>
    <p:extLst>
      <p:ext uri="{BB962C8B-B14F-4D97-AF65-F5344CB8AC3E}">
        <p14:creationId xmlns:p14="http://schemas.microsoft.com/office/powerpoint/2010/main" val="20181477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D5DD0E-B533-4932-84C6-A262C928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ED4"/>
                </a:solidFill>
              </a:defRPr>
            </a:pPr>
            <a:r>
              <a:rPr sz="900" b="1">
                <a:solidFill>
                  <a:srgbClr val="1E5ED4"/>
                </a:solidFill>
              </a:rPr>
              <a:t>LANDING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E0CCE-543B-465A-842D-992767DE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从参赛 Skill 到企业决策资产层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6343E-9CBE-4F23-85F4-B5E93080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E6673"/>
                </a:solidFill>
              </a:defRPr>
            </a:pPr>
            <a:r>
              <a:rPr sz="825" b="1">
                <a:solidFill>
                  <a:srgbClr val="5E6673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553DE-E028-441E-9EC9-08E19EF1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00F36-6A1F-4CBD-9794-0E4FF065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009900" cy="31242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40FA7-B00E-470B-83ED-A134D01D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43100"/>
            <a:ext cx="3009900" cy="31242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67A43-31B8-4143-ADEF-FF6FF0F1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43100"/>
            <a:ext cx="3009900" cy="31242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0D0F12"/>
          </a:solidFill>
          <a:ln xmlns:a="http://schemas.openxmlformats.org/drawingml/2006/main" w="9525">
            <a:solidFill>
              <a:srgbClr val="0D0F1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E6ED9-C9D3-485D-A6C8-1E3740B6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ED4"/>
                </a:solidFill>
              </a:defRPr>
            </a:pPr>
            <a:r>
              <a:rPr sz="900" b="1">
                <a:solidFill>
                  <a:srgbClr val="1E5ED4"/>
                </a:solidFill>
              </a:rPr>
              <a:t>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FE700-5D53-4662-8368-A4591B55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324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通用决策 Skill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4992F-C698-4B5E-B033-B0D79573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228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673"/>
                </a:solidFill>
              </a:defRPr>
            </a:pPr>
            <a:r>
              <a:rPr sz="1200" b="0">
                <a:solidFill>
                  <a:srgbClr val="5E6673"/>
                </a:solidFill>
              </a:rPr>
              <a:t>3 个可执行企业 Sample</a:t>
            </a:r>
          </a:p>
          <a:p xmlns:a="http://schemas.openxmlformats.org/drawingml/2006/main">
            <a:pPr>
              <a:defRPr sz="1200" b="0">
                <a:solidFill>
                  <a:srgbClr val="5E6673"/>
                </a:solidFill>
              </a:defRPr>
            </a:pPr>
            <a:r>
              <a:rPr sz="1200" b="0">
                <a:solidFill>
                  <a:srgbClr val="5E6673"/>
                </a:solidFill>
              </a:rPr>
              <a:t>可上传、可演示、可回归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5EE9E-A6F2-4FAB-8541-B5DBCC7B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098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5ED4"/>
                </a:solidFill>
              </a:defRPr>
            </a:pPr>
            <a:r>
              <a:rPr sz="900" b="1">
                <a:solidFill>
                  <a:srgbClr val="1E5ED4"/>
                </a:solidFill>
              </a:rPr>
              <a:t>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A547F-F3CD-4325-A2CC-EC761C34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2324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私域数据连接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EF1B9-7245-4221-8EF9-182BED8A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57600"/>
            <a:ext cx="228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673"/>
                </a:solidFill>
              </a:defRPr>
            </a:pPr>
            <a:r>
              <a:rPr sz="1200" b="0">
                <a:solidFill>
                  <a:srgbClr val="5E6673"/>
                </a:solidFill>
              </a:rPr>
              <a:t>OA / CRM / 工单 / 知识库</a:t>
            </a:r>
          </a:p>
          <a:p xmlns:a="http://schemas.openxmlformats.org/drawingml/2006/main">
            <a:pPr>
              <a:defRPr sz="1200" b="0">
                <a:solidFill>
                  <a:srgbClr val="5E6673"/>
                </a:solidFill>
              </a:defRPr>
            </a:pPr>
            <a:r>
              <a:rPr sz="1200" b="0">
                <a:solidFill>
                  <a:srgbClr val="5E6673"/>
                </a:solidFill>
              </a:rPr>
              <a:t>把 source_id 连到真实业务对象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4C41D7-7F48-4002-9F19-FA1A6E2E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098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F9EFF"/>
                </a:solidFill>
              </a:defRPr>
            </a:pPr>
            <a:r>
              <a:rPr sz="900" b="1">
                <a:solidFill>
                  <a:srgbClr val="5F9EFF"/>
                </a:solidFill>
              </a:rPr>
              <a:t>SCALE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0CC3F9-1DBD-4A05-A358-FF39040E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24150"/>
            <a:ext cx="2324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行业模板市场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BF4563-59D2-4ED6-8E6B-3F743800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57600"/>
            <a:ext cx="228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8D0DA"/>
                </a:solidFill>
              </a:defRPr>
            </a:pPr>
            <a:r>
              <a:rPr sz="1200" b="0">
                <a:solidFill>
                  <a:srgbClr val="C8D0DA"/>
                </a:solidFill>
              </a:rPr>
              <a:t>沉淀采购、发布、客服、风控等可复用决策模板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B33247-4D70-46B4-A1A6-5698B5A7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1470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06DDEF-FA13-4BF2-B600-73FD577E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1470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DCC450-CB91-49AB-9235-BAB850EB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变的是业务对象与系统连接；不变的是“独立投票 → 证据绑定 → 决策包”。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4AA27C-6325-4A14-8640-EF334317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9098A3"/>
                </a:solidFill>
              </a:defRPr>
            </a:pPr>
            <a:r>
              <a:rPr sz="675" b="1">
                <a:solidFill>
                  <a:srgbClr val="9098A3"/>
                </a:solidFill>
              </a:rPr>
              <a:t>TOULEMA / CLAWHIVE SKILL</a:t>
            </a:r>
          </a:p>
        </p:txBody>
      </p:sp>
    </p:spTree>
    <p:extLst>
      <p:ext uri="{BB962C8B-B14F-4D97-AF65-F5344CB8AC3E}">
        <p14:creationId xmlns:p14="http://schemas.microsoft.com/office/powerpoint/2010/main" val="8714454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7414E-B134-4696-96E4-D3BE0931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F9EFF"/>
                </a:solidFill>
              </a:defRPr>
            </a:pPr>
            <a:r>
              <a:rPr sz="900" b="1">
                <a:solidFill>
                  <a:srgbClr val="5F9EFF"/>
                </a:solidFill>
              </a:rPr>
              <a:t>TOULEMA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4B955-902F-4F48-AB34-AAE0254B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476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858E9A"/>
                </a:solidFill>
              </a:defRPr>
            </a:pPr>
            <a:r>
              <a:rPr sz="3600" b="1">
                <a:solidFill>
                  <a:srgbClr val="858E9A"/>
                </a:solidFill>
              </a:rPr>
              <a:t>普通投票</a:t>
            </a:r>
          </a:p>
          <a:p xmlns:a="http://schemas.openxmlformats.org/drawingml/2006/main">
            <a:pPr>
              <a:defRPr sz="3600" b="1">
                <a:solidFill>
                  <a:srgbClr val="858E9A"/>
                </a:solidFill>
              </a:defRPr>
            </a:pPr>
            <a:r>
              <a:rPr sz="3600" b="1">
                <a:solidFill>
                  <a:srgbClr val="858E9A"/>
                </a:solidFill>
              </a:rPr>
              <a:t>记录结论。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E3479-CE5B-4C2F-90D4-1D60F270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28750"/>
            <a:ext cx="48958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投了么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沉淀决策资产。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42859-0AC8-42DE-A0D8-CB222384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9EFF"/>
          </a:solidFill>
          <a:ln xmlns:a="http://schemas.openxmlformats.org/drawingml/2006/main" w="9525">
            <a:solidFill>
              <a:srgbClr val="5F9E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9DBF5-1A2A-4CDE-BEF4-D88E9F1A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68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09B19-5592-4550-ACB2-E20AD7EF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719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9EFF"/>
                </a:solidFill>
              </a:defRPr>
            </a:pPr>
            <a:r>
              <a:rPr sz="975" b="1">
                <a:solidFill>
                  <a:srgbClr val="5F9EFF"/>
                </a:solidFill>
              </a:rPr>
              <a:t>SAMPLES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33812-1A4E-4116-BB66-48F7E5CC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0525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4:40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19986-622F-4C98-8E1D-EAA26BC7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7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9EFF"/>
                </a:solidFill>
              </a:defRPr>
            </a:pPr>
            <a:r>
              <a:rPr sz="975" b="1">
                <a:solidFill>
                  <a:srgbClr val="5F9EFF"/>
                </a:solidFill>
              </a:rPr>
              <a:t>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3DB32-80B0-4D0D-81C0-2002A719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052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ZIP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A6C36C-E611-4719-83E5-A4AF7B96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7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9EFF"/>
                </a:solidFill>
              </a:defRPr>
            </a:pPr>
            <a:r>
              <a:rPr sz="975" b="1">
                <a:solidFill>
                  <a:srgbClr val="5F9EFF"/>
                </a:solidFill>
              </a:rPr>
              <a:t>READY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B0241-025F-4387-BE3E-20E8D284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8DEE7"/>
                </a:solidFill>
              </a:defRPr>
            </a:pPr>
            <a:r>
              <a:rPr sz="1800" b="1">
                <a:solidFill>
                  <a:srgbClr val="D8DEE7"/>
                </a:solidFill>
              </a:rPr>
              <a:t>一个 Skill，让 Agent 团队的每次选择都能被解释、验收和复用。</a:t>
            </a:r>
          </a:p>
        </p:txBody>
      </p:sp>
    </p:spTree>
    <p:extLst>
      <p:ext uri="{BB962C8B-B14F-4D97-AF65-F5344CB8AC3E}">
        <p14:creationId xmlns:p14="http://schemas.microsoft.com/office/powerpoint/2010/main" val="13267008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2026-08-30T05:55:46.3200000Z</dcterms:created>
  <dcterms:modified xsi:type="dcterms:W3CDTF">2026-08-30T05:55:46.3200000Z</dcterms:modified>
</coreProperties>
</file>